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53"/>
    <p:restoredTop sz="94624"/>
  </p:normalViewPr>
  <p:slideViewPr>
    <p:cSldViewPr snapToGrid="0">
      <p:cViewPr>
        <p:scale>
          <a:sx n="78" d="100"/>
          <a:sy n="78" d="100"/>
        </p:scale>
        <p:origin x="656" y="7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CFEB2-A7A2-B140-8F5C-4A94D00E0212}" type="datetimeFigureOut">
              <a:rPr lang="en-US" smtClean="0"/>
              <a:t>4/28/24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1F712A47-34E4-164E-9442-3C34C54486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319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CFEB2-A7A2-B140-8F5C-4A94D00E0212}" type="datetimeFigureOut">
              <a:rPr lang="en-US" smtClean="0"/>
              <a:t>4/28/24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12A47-34E4-164E-9442-3C34C54486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233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EFBCFEB2-A7A2-B140-8F5C-4A94D00E0212}" type="datetimeFigureOut">
              <a:rPr lang="en-US" smtClean="0"/>
              <a:t>4/28/24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1F712A47-34E4-164E-9442-3C34C54486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51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CFEB2-A7A2-B140-8F5C-4A94D00E0212}" type="datetimeFigureOut">
              <a:rPr lang="en-US" smtClean="0"/>
              <a:t>4/28/24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12A47-34E4-164E-9442-3C34C54486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312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CFEB2-A7A2-B140-8F5C-4A94D00E0212}" type="datetimeFigureOut">
              <a:rPr lang="en-US" smtClean="0"/>
              <a:t>4/28/24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12A47-34E4-164E-9442-3C34C54486CD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6163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CFEB2-A7A2-B140-8F5C-4A94D00E0212}" type="datetimeFigureOut">
              <a:rPr lang="en-US" smtClean="0"/>
              <a:t>4/28/24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12A47-34E4-164E-9442-3C34C54486CD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56316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CFEB2-A7A2-B140-8F5C-4A94D00E0212}" type="datetimeFigureOut">
              <a:rPr lang="en-US" smtClean="0"/>
              <a:t>4/28/24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12A47-34E4-164E-9442-3C34C54486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133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CFEB2-A7A2-B140-8F5C-4A94D00E0212}" type="datetimeFigureOut">
              <a:rPr lang="en-US" smtClean="0"/>
              <a:t>4/28/24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12A47-34E4-164E-9442-3C34C54486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211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CFEB2-A7A2-B140-8F5C-4A94D00E0212}" type="datetimeFigureOut">
              <a:rPr lang="en-US" smtClean="0"/>
              <a:t>4/28/24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12A47-34E4-164E-9442-3C34C54486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964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CFEB2-A7A2-B140-8F5C-4A94D00E0212}" type="datetimeFigureOut">
              <a:rPr lang="en-US" smtClean="0"/>
              <a:t>4/28/24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12A47-34E4-164E-9442-3C34C54486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991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CFEB2-A7A2-B140-8F5C-4A94D00E0212}" type="datetimeFigureOut">
              <a:rPr lang="en-US" smtClean="0"/>
              <a:t>4/28/24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12A47-34E4-164E-9442-3C34C54486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556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EFBCFEB2-A7A2-B140-8F5C-4A94D00E0212}" type="datetimeFigureOut">
              <a:rPr lang="en-US" smtClean="0"/>
              <a:t>4/28/24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1F712A47-34E4-164E-9442-3C34C54486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809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C9F2A-06FF-3DA8-EC89-D80DD26572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4400" dirty="0"/>
              <a:t>Movie Review SENTIMENTAL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27727B-2944-F729-54FF-CEFC99B31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0671" y="4468031"/>
            <a:ext cx="7891272" cy="1069848"/>
          </a:xfrm>
        </p:spPr>
        <p:txBody>
          <a:bodyPr/>
          <a:lstStyle/>
          <a:p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Drashti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Khatra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(11053803)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Sahil Patel (11045739)</a:t>
            </a:r>
          </a:p>
        </p:txBody>
      </p:sp>
    </p:spTree>
    <p:extLst>
      <p:ext uri="{BB962C8B-B14F-4D97-AF65-F5344CB8AC3E}">
        <p14:creationId xmlns:p14="http://schemas.microsoft.com/office/powerpoint/2010/main" val="7791296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DDA44-CB2F-E0D8-0150-B80D29849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820899"/>
            <a:ext cx="10058400" cy="1609344"/>
          </a:xfrm>
        </p:spPr>
        <p:txBody>
          <a:bodyPr>
            <a:normAutofit/>
          </a:bodyPr>
          <a:lstStyle/>
          <a:p>
            <a:r>
              <a:rPr lang="en-US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7EAC1-4ECD-3DD3-0B19-3B4055D770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1404" y="2613468"/>
            <a:ext cx="10058400" cy="4050792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Objective: Develop an effective sentiment analysis model using RapidMiner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Compare two models with different parameter settings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Identify the configuration with the highest accuracy</a:t>
            </a:r>
          </a:p>
        </p:txBody>
      </p:sp>
    </p:spTree>
    <p:extLst>
      <p:ext uri="{BB962C8B-B14F-4D97-AF65-F5344CB8AC3E}">
        <p14:creationId xmlns:p14="http://schemas.microsoft.com/office/powerpoint/2010/main" val="3946702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8663C-8322-667A-AEF3-150F1190C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069" y="737296"/>
            <a:ext cx="10058400" cy="1609344"/>
          </a:xfrm>
        </p:spPr>
        <p:txBody>
          <a:bodyPr/>
          <a:lstStyle/>
          <a:p>
            <a:r>
              <a:rPr lang="en-US" dirty="0"/>
              <a:t>Data collection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69ABF-5A84-C76E-A73B-A0090600D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3752" y="2482356"/>
            <a:ext cx="10058400" cy="4050792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Dataset: Stanford Large Movie Review Dataset</a:t>
            </a:r>
          </a:p>
          <a:p>
            <a:pPr algn="just"/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50,000 movie reviews (25,000 training, 25,000 testing)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Balanced dataset: 500 positive and 500 negative reviews randomly selected from the training set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Total of 1,000 labeled text files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91107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7F2AD-F0F0-7C43-68CB-A194BF076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713713"/>
            <a:ext cx="10058400" cy="1609344"/>
          </a:xfrm>
        </p:spPr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60DAE-C6AB-E5D4-6FDD-E922677C73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323057"/>
            <a:ext cx="10058400" cy="4050792"/>
          </a:xfrm>
        </p:spPr>
        <p:txBody>
          <a:bodyPr>
            <a:normAutofit fontScale="92500" lnSpcReduction="10000"/>
          </a:bodyPr>
          <a:lstStyle/>
          <a:p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1. Data Processing: </a:t>
            </a:r>
          </a:p>
          <a:p>
            <a:pPr marL="0" indent="0">
              <a:buNone/>
            </a:pPr>
            <a:r>
              <a:rPr lang="en-US" sz="24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	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Process Documents from Files' operator: TF-IDF word vectors, percentual pruning</a:t>
            </a:r>
          </a:p>
          <a:p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2. Data Splitting:</a:t>
            </a:r>
          </a:p>
          <a:p>
            <a:pPr marL="0" indent="0">
              <a:buNone/>
            </a:pPr>
            <a:r>
              <a:rPr lang="en-US" sz="24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	Cross Validation' operator: 10 folds, automatic sampling, parallel execution</a:t>
            </a:r>
            <a:endParaRPr lang="en-US" sz="24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3. Sentiment Classification Models:</a:t>
            </a:r>
          </a:p>
          <a:p>
            <a:pPr marL="0" indent="0">
              <a:buNone/>
            </a:pPr>
            <a:r>
              <a:rPr lang="en-US" sz="24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	 Model 1: k-NN (k=5, cosine similarity)</a:t>
            </a:r>
          </a:p>
          <a:p>
            <a:pPr marL="0" indent="0">
              <a:buNone/>
            </a:pPr>
            <a:r>
              <a:rPr lang="en-US" sz="24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	 Model 2: k-NN (k=10, Euclidean distance)</a:t>
            </a:r>
            <a:endParaRPr lang="en-US" sz="24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4. Performance Evaluation:</a:t>
            </a:r>
          </a:p>
          <a:p>
            <a:pPr marL="0" indent="0">
              <a:buNone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	Performance (Classification) operator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02296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E4F68-8E95-3AB7-DB54-367259CAA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</a:t>
            </a:r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5A620D66-F5A4-4246-82BD-1876264448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8039" t="10423" r="26754" b="28566"/>
          <a:stretch/>
        </p:blipFill>
        <p:spPr>
          <a:xfrm>
            <a:off x="2743201" y="1829943"/>
            <a:ext cx="7043737" cy="4543425"/>
          </a:xfrm>
        </p:spPr>
      </p:pic>
    </p:spTree>
    <p:extLst>
      <p:ext uri="{BB962C8B-B14F-4D97-AF65-F5344CB8AC3E}">
        <p14:creationId xmlns:p14="http://schemas.microsoft.com/office/powerpoint/2010/main" val="3092185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B5AC0-F289-D64D-8CC1-C4889A0E3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Model1 results</a:t>
            </a:r>
          </a:p>
        </p:txBody>
      </p:sp>
      <p:pic>
        <p:nvPicPr>
          <p:cNvPr id="5" name="Content Placeholder 4" descr="A screenshot of a graph&#10;&#10;Description automatically generated">
            <a:extLst>
              <a:ext uri="{FF2B5EF4-FFF2-40B4-BE49-F238E27FC236}">
                <a16:creationId xmlns:a16="http://schemas.microsoft.com/office/drawing/2014/main" id="{EB9DEAEC-04D6-704F-A8BB-108F676343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3752" y="1855109"/>
            <a:ext cx="10298792" cy="2438450"/>
          </a:xfrm>
        </p:spPr>
      </p:pic>
      <p:pic>
        <p:nvPicPr>
          <p:cNvPr id="7" name="Picture 6" descr="A black text with black text&#10;&#10;Description automatically generated">
            <a:extLst>
              <a:ext uri="{FF2B5EF4-FFF2-40B4-BE49-F238E27FC236}">
                <a16:creationId xmlns:a16="http://schemas.microsoft.com/office/drawing/2014/main" id="{A098070B-F66A-A94F-8C0B-4AE6A6846B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4054691"/>
            <a:ext cx="6730584" cy="2554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4162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1EC99-C3C4-2D47-9CE4-8C59DFD13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Model2 results</a:t>
            </a:r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3357A640-891A-B440-BA8F-BF5F5191F0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0109" t="18019" b="43497"/>
          <a:stretch/>
        </p:blipFill>
        <p:spPr>
          <a:xfrm>
            <a:off x="1063752" y="1738859"/>
            <a:ext cx="10058400" cy="2023671"/>
          </a:xfr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10DF9389-E089-394C-834A-B030EF619F0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144" r="36239" b="58539"/>
          <a:stretch/>
        </p:blipFill>
        <p:spPr>
          <a:xfrm>
            <a:off x="1063752" y="3907485"/>
            <a:ext cx="7120878" cy="2278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5136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86731-B195-0E46-9E79-28F7182E0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6ED2D-8305-B644-ABBC-1B0639F99A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Successful development of sentiment analysis models using RapidMiner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2 (optimized parameters) achieved 83.50% accuracy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Significance of sentiment analysis for marketing professionals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Sentiment analysis: a powerful tool for understanding customer sentiment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9923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C4D43-DA7D-0342-B424-FFC7BD215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6192" y="2624328"/>
            <a:ext cx="10058400" cy="1609344"/>
          </a:xfrm>
        </p:spPr>
        <p:txBody>
          <a:bodyPr/>
          <a:lstStyle/>
          <a:p>
            <a:r>
              <a:rPr lang="en-US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18652108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{A0854411-68D2-1346-9867-6CA25F25DED2}tf10001070</Template>
  <TotalTime>152</TotalTime>
  <Words>219</Words>
  <Application>Microsoft Macintosh PowerPoint</Application>
  <PresentationFormat>Widescreen</PresentationFormat>
  <Paragraphs>31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Calibri</vt:lpstr>
      <vt:lpstr>Rockwell</vt:lpstr>
      <vt:lpstr>Rockwell Condensed</vt:lpstr>
      <vt:lpstr>Rockwell Extra Bold</vt:lpstr>
      <vt:lpstr>Times New Roman</vt:lpstr>
      <vt:lpstr>Wingdings</vt:lpstr>
      <vt:lpstr>Wood Type</vt:lpstr>
      <vt:lpstr>Movie Review SENTIMENTAL ANALYSIS</vt:lpstr>
      <vt:lpstr>objective</vt:lpstr>
      <vt:lpstr>Data collection</vt:lpstr>
      <vt:lpstr>Methodology</vt:lpstr>
      <vt:lpstr>Model</vt:lpstr>
      <vt:lpstr>Model1 results</vt:lpstr>
      <vt:lpstr>Model2 results</vt:lpstr>
      <vt:lpstr>conclusion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Movie Review SENTIMENTAL ANALYSIS</dc:title>
  <dc:creator>Microsoft Office User</dc:creator>
  <cp:lastModifiedBy>Mitesh Khatra</cp:lastModifiedBy>
  <cp:revision>2</cp:revision>
  <dcterms:created xsi:type="dcterms:W3CDTF">2024-04-29T01:16:14Z</dcterms:created>
  <dcterms:modified xsi:type="dcterms:W3CDTF">2024-04-29T03:56:02Z</dcterms:modified>
</cp:coreProperties>
</file>